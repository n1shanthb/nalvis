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20CCB0"/>
                </a:solidFill>
                <a:latin typeface="Aptos"/>
              </a:rPr>
              <a:t>THE NEW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5B9D1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05840"/>
            <a:ext cx="2103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0CCB0"/>
                </a:solidFill>
                <a:latin typeface="Aptos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1005840"/>
            <a:ext cx="2011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7FAFC"/>
                </a:solidFill>
                <a:latin typeface="Aptos"/>
              </a:rPr>
              <a:t>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6858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7FAFC"/>
                </a:solidFill>
                <a:latin typeface="Aptos"/>
              </a:rPr>
              <a:t>From company knowledge
to autonomous, governed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310128"/>
            <a:ext cx="6309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5B9D1"/>
                </a:solidFill>
                <a:latin typeface="Aptos"/>
              </a:rPr>
              <a:t>AgentSuite discovers where AI can work, creates the workforce, executes the workflow, and verifies the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4754880"/>
            <a:ext cx="3017520" cy="274320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4773168"/>
            <a:ext cx="30175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>
                <a:solidFill>
                  <a:srgbClr val="081328"/>
                </a:solidFill>
                <a:latin typeface="Aptos"/>
              </a:rPr>
              <a:t>FROM COMPANY CONTEXT TO VERIFIED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53212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B8FFEB"/>
                </a:solidFill>
                <a:latin typeface="Aptos"/>
              </a:rPr>
              <a:t>Governed digital workers for engineering and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731520"/>
            <a:ext cx="3566160" cy="530352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1325880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1709928"/>
            <a:ext cx="9418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A5B9D1"/>
                </a:solidFill>
                <a:latin typeface="Aptos"/>
              </a:rPr>
              <a:t>KNOWLEDGE</a:t>
            </a:r>
          </a:p>
        </p:txBody>
      </p:sp>
      <p:sp>
        <p:nvSpPr>
          <p:cNvPr id="16" name="Oval 15"/>
          <p:cNvSpPr/>
          <p:nvPr/>
        </p:nvSpPr>
        <p:spPr>
          <a:xfrm>
            <a:off x="9829800" y="2331720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0616" y="2715768"/>
            <a:ext cx="9418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A5B9D1"/>
                </a:solidFill>
                <a:latin typeface="Aptos"/>
              </a:rPr>
              <a:t>WORKFORCE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3730752"/>
            <a:ext cx="274320" cy="274320"/>
          </a:xfrm>
          <a:prstGeom prst="ellipse">
            <a:avLst/>
          </a:prstGeom>
          <a:solidFill>
            <a:srgbClr val="FF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4114800"/>
            <a:ext cx="9418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A5B9D1"/>
                </a:solidFill>
                <a:latin typeface="Aptos"/>
              </a:rPr>
              <a:t>EXECUTION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4498848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4882896"/>
            <a:ext cx="9418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A5B9D1"/>
                </a:solidFill>
                <a:latin typeface="Aptos"/>
              </a:rPr>
              <a:t>PROOF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0" y="1463040"/>
            <a:ext cx="1645920" cy="3172968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66960" y="2468880"/>
            <a:ext cx="274320" cy="2167128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3867912"/>
            <a:ext cx="1828800" cy="768096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682E0"/>
                </a:solidFill>
                <a:latin typeface="Aptos"/>
              </a:rPr>
              <a:t>THE EXECUTION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3682E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33D"/>
                </a:solidFill>
                <a:latin typeface="Aptos"/>
              </a:rPr>
              <a:t>Enterprise AI has an execution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C607A"/>
                </a:solidFill>
                <a:latin typeface="Aptos"/>
              </a:rPr>
              <a:t>More tools and more agents do not automatically create trusted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76272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0200" y="1993392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23744"/>
            <a:ext cx="18196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Too many
systems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2724912"/>
            <a:ext cx="41148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19856" y="2176272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61688" y="1993392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523744"/>
            <a:ext cx="18196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Too many
workflows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14416" y="2724912"/>
            <a:ext cx="41148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2176272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3176" y="1993392"/>
            <a:ext cx="274320" cy="274320"/>
          </a:xfrm>
          <a:prstGeom prst="ellipse">
            <a:avLst/>
          </a:prstGeom>
          <a:solidFill>
            <a:srgbClr val="FF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523744"/>
            <a:ext cx="18196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Too many
permissions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75904" y="2724912"/>
            <a:ext cx="41148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42832" y="2176272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84664" y="1993392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523744"/>
            <a:ext cx="18196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No reliable
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23360"/>
            <a:ext cx="10835640" cy="1024128"/>
          </a:xfrm>
          <a:prstGeom prst="roundRect">
            <a:avLst>
              <a:gd name="adj" fmla="val 12000"/>
            </a:avLst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F7FAFC"/>
                </a:solidFill>
                <a:latin typeface="Aptos"/>
              </a:rPr>
              <a:t>AI pilots don't become trusted digital workers.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3233D"/>
                </a:solidFill>
                <a:latin typeface="Aptos"/>
              </a:rPr>
              <a:t>They need context, bounded authority, durable execution, and proof of outcome.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20CCB0"/>
                </a:solidFill>
                <a:latin typeface="Aptos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5B9D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AgentSuite builds the workforce before it executes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5B9D1"/>
                </a:solidFill>
                <a:latin typeface="Aptos"/>
              </a:rPr>
              <a:t>Company knowledge becomes an operating model for governed digital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6" y="2084831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Company
Knowledge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852928"/>
            <a:ext cx="24688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0672" y="2084831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Business
Understanding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2504" y="2852928"/>
            <a:ext cx="24688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52544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56048" y="2084831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AI
Organization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79" y="2852928"/>
            <a:ext cx="246889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1424" y="2084831"/>
            <a:ext cx="274320" cy="274320"/>
          </a:xfrm>
          <a:prstGeom prst="ellipse">
            <a:avLst/>
          </a:prstGeom>
          <a:solidFill>
            <a:srgbClr val="FF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AI
Workforce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63256" y="2852928"/>
            <a:ext cx="24688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83296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0" y="2084831"/>
            <a:ext cx="274320" cy="274320"/>
          </a:xfrm>
          <a:prstGeom prst="ellipse">
            <a:avLst/>
          </a:prstGeom>
          <a:solidFill>
            <a:srgbClr val="B8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Real Workflow
Execution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28632" y="2852928"/>
            <a:ext cx="24688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48672" y="2331720"/>
            <a:ext cx="1481328" cy="105156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52176" y="2084831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2651760"/>
            <a:ext cx="13350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7FAFC"/>
                </a:solidFill>
                <a:latin typeface="Aptos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25196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B8FFEB"/>
                </a:solidFill>
                <a:latin typeface="Aptos"/>
              </a:rPr>
              <a:t>Knowledge reveals what the company does.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25196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7FAFC"/>
                </a:solidFill>
                <a:latin typeface="Aptos"/>
              </a:rPr>
              <a:t>Discovery identifies repeatable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251960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7FAFC"/>
                </a:solidFill>
                <a:latin typeface="Aptos"/>
              </a:rPr>
              <a:t>Roles and tools become an executable workforce.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892040"/>
            <a:ext cx="10789920" cy="731520"/>
          </a:xfrm>
          <a:prstGeom prst="roundRect">
            <a:avLst>
              <a:gd name="adj" fmla="val 12000"/>
            </a:avLst>
          </a:prstGeom>
          <a:solidFill>
            <a:srgbClr val="163350"/>
          </a:solidFill>
          <a:ln>
            <a:solidFill>
              <a:srgbClr val="16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02352"/>
            <a:ext cx="10241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B8FFEB"/>
                </a:solidFill>
                <a:latin typeface="Aptos"/>
              </a:rPr>
              <a:t>The Director routes intent to the right specialists — it does not perform writes.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682E0"/>
                </a:solidFill>
                <a:latin typeface="Aptos"/>
              </a:rPr>
              <a:t>GROUNDED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3682E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33D"/>
                </a:solidFill>
                <a:latin typeface="Aptos"/>
              </a:rPr>
              <a:t>Don’t start with agents. Start with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C607A"/>
                </a:solidFill>
                <a:latin typeface="Aptos"/>
              </a:rPr>
              <a:t>AI-assisted discovery turns organizational knowledge into grounded agent specifications.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1554480" cy="73152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3233D"/>
                </a:solidFill>
                <a:latin typeface="Aptos"/>
              </a:rPr>
              <a:t>Company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679192"/>
            <a:ext cx="54864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224028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2240280"/>
            <a:ext cx="1554480" cy="73152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2542032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3233D"/>
                </a:solidFill>
                <a:latin typeface="Aptos"/>
              </a:rPr>
              <a:t>Capabilities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9432" y="2679192"/>
            <a:ext cx="54864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224028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2240280"/>
            <a:ext cx="1554480" cy="73152"/>
          </a:xfrm>
          <a:prstGeom prst="roundRect">
            <a:avLst>
              <a:gd name="adj" fmla="val 12000"/>
            </a:avLst>
          </a:prstGeom>
          <a:solidFill>
            <a:srgbClr val="FFCA59"/>
          </a:solidFill>
          <a:ln>
            <a:solidFill>
              <a:srgbClr val="FFC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2542032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3233D"/>
                </a:solidFill>
                <a:latin typeface="Aptos"/>
              </a:rPr>
              <a:t>Teams + roles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85432" y="2679192"/>
            <a:ext cx="548639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24028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2240280"/>
            <a:ext cx="1554480" cy="73152"/>
          </a:xfrm>
          <a:prstGeom prst="roundRect">
            <a:avLst>
              <a:gd name="adj" fmla="val 12000"/>
            </a:avLst>
          </a:prstGeom>
          <a:solidFill>
            <a:srgbClr val="FF8469"/>
          </a:solidFill>
          <a:ln>
            <a:solidFill>
              <a:srgbClr val="FF8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542032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3233D"/>
                </a:solidFill>
                <a:latin typeface="Aptos"/>
              </a:rPr>
              <a:t>Workflows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1432" y="2679192"/>
            <a:ext cx="54864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29800" y="224028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2240280"/>
            <a:ext cx="1554480" cy="73152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2542032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3233D"/>
                </a:solidFill>
                <a:latin typeface="Aptos"/>
              </a:rPr>
              <a:t>Agent specs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40480"/>
            <a:ext cx="3401568" cy="128016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840480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8678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Grounded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370832"/>
            <a:ext cx="3081528" cy="6583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Resources, ownership, scope and evidence come from the Knowledge Graph.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840480"/>
            <a:ext cx="3401568" cy="128016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3840480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98678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AI-assisted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370832"/>
            <a:ext cx="3081528" cy="6583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The system proposes meanings, capabilities and specializations; it does not invent facts.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840480"/>
            <a:ext cx="3401568" cy="128016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92440" y="3840480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8469"/>
          </a:solidFill>
          <a:ln>
            <a:solidFill>
              <a:srgbClr val="FF8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98678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Ready to activate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370832"/>
            <a:ext cx="3081528" cy="6583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AWS, Slack and Notion become visible, blocked agent stubs until their connectors are wired.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20CCB0"/>
                </a:solidFill>
                <a:latin typeface="Aptos"/>
              </a:rPr>
              <a:t>REAL WORKFLOW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5B9D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A digital worker should complete the workflow — not just describe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5B9D1"/>
                </a:solidFill>
                <a:latin typeface="Aptos"/>
              </a:rPr>
              <a:t>The Director selects specialists; each specialist acts only inside its approved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29968"/>
            <a:ext cx="5239512" cy="324612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0CCB0"/>
                </a:solidFill>
                <a:latin typeface="Aptos"/>
              </a:rPr>
              <a:t>MEETING REQUEST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79776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74320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Customer asks to book a meeting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3054096"/>
            <a:ext cx="0" cy="219456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60120" y="3328416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29184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7FAFC"/>
                </a:solidFill>
                <a:latin typeface="Aptos"/>
              </a:rPr>
              <a:t>Director routes to Gmail + Calendar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602736"/>
            <a:ext cx="0" cy="219455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60120" y="3877056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384048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Calendar creates the event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4151376"/>
            <a:ext cx="0" cy="219456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0120" y="4425696"/>
            <a:ext cx="274320" cy="274320"/>
          </a:xfrm>
          <a:prstGeom prst="ellipse">
            <a:avLst/>
          </a:prstGeom>
          <a:solidFill>
            <a:srgbClr val="B8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438912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Gmail replies with the meeting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029968"/>
            <a:ext cx="5239512" cy="3246120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304288"/>
            <a:ext cx="2148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8469"/>
                </a:solidFill>
                <a:latin typeface="Aptos"/>
              </a:rPr>
              <a:t>CUSTOMER COMPLAINT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779776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274320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Customer reports a feature issue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20840" y="3054096"/>
            <a:ext cx="0" cy="219456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83680" y="3328416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9184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Gmail agent extracts the 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20840" y="3602736"/>
            <a:ext cx="0" cy="219455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583680" y="3877056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384048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7FAFC"/>
                </a:solidFill>
                <a:latin typeface="Aptos"/>
              </a:rPr>
              <a:t>Director routes to GitHub specialist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20840" y="4151376"/>
            <a:ext cx="0" cy="219456"/>
          </a:xfrm>
          <a:prstGeom prst="line">
            <a:avLst/>
          </a:prstGeom>
          <a:ln w="12700">
            <a:solidFill>
              <a:srgbClr val="38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583680" y="4425696"/>
            <a:ext cx="274320" cy="274320"/>
          </a:xfrm>
          <a:prstGeom prst="ellipse">
            <a:avLst/>
          </a:prstGeom>
          <a:solidFill>
            <a:srgbClr val="B8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4389120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7FAFC"/>
                </a:solidFill>
                <a:latin typeface="Aptos"/>
              </a:rPr>
              <a:t>Issue created; customer gets a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42432"/>
            <a:ext cx="10835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B8FFEB"/>
                </a:solidFill>
                <a:latin typeface="Aptos"/>
              </a:rPr>
              <a:t>From company context to verified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682E0"/>
                </a:solidFill>
                <a:latin typeface="Aptos"/>
              </a:rPr>
              <a:t>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3682E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33D"/>
                </a:solidFill>
                <a:latin typeface="Aptos"/>
              </a:rPr>
              <a:t>AI decides. Policy constrains. Evidence proves.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C607A"/>
                </a:solidFill>
                <a:latin typeface="Aptos"/>
              </a:rPr>
              <a:t>Three distinct responsibilities keep autonomy useful and safe.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401568" cy="2121408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64008" cy="2121408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AI / Director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9192"/>
            <a:ext cx="3081528" cy="1499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Understands intent, identifies capability, and selects a small set of specialist agents. No write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01568" cy="2121408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64008" cy="2121408"/>
          </a:xfrm>
          <a:prstGeom prst="roundRect">
            <a:avLst>
              <a:gd name="adj" fmla="val 12000"/>
            </a:avLst>
          </a:prstGeom>
          <a:solidFill>
            <a:srgbClr val="FF8469"/>
          </a:solidFill>
          <a:ln>
            <a:solidFill>
              <a:srgbClr val="FF8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9514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Guardrails /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79192"/>
            <a:ext cx="3081528" cy="1499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Determines what the agent is allowed to do: scope, tool access, allow, deny, or human approval.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48840"/>
            <a:ext cx="3401568" cy="2121408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2148840"/>
            <a:ext cx="64008" cy="2121408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295144"/>
            <a:ext cx="30815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233D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79192"/>
            <a:ext cx="3081528" cy="1499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4C607A"/>
                </a:solidFill>
                <a:latin typeface="Aptos"/>
              </a:rPr>
              <a:t>Re-queries the live system and checks whether the intended external outcome actually happened.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682E0"/>
                </a:solidFill>
                <a:latin typeface="Aptos"/>
              </a:rPr>
              <a:t>Can the agent do this?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892040"/>
            <a:ext cx="3200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0CCB0"/>
                </a:solidFill>
                <a:latin typeface="Aptos"/>
              </a:rPr>
              <a:t>Did it actually happen correctly?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94760" y="5010912"/>
            <a:ext cx="4160519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20" y="537667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3233D"/>
                </a:solidFill>
                <a:latin typeface="Aptos"/>
              </a:rPr>
              <a:t>Permission is not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20CCB0"/>
                </a:solidFill>
                <a:latin typeface="Aptos"/>
              </a:rPr>
              <a:t>EVIDENCE-BASED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5B9D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Successful execution is not the same as successful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5B9D1"/>
                </a:solidFill>
                <a:latin typeface="Aptos"/>
              </a:rPr>
              <a:t>Agent claims are not enough; validation is based on observable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664208" cy="8412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286000"/>
            <a:ext cx="1664208" cy="64008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EXECUTE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2706624"/>
            <a:ext cx="33832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40" y="2286000"/>
            <a:ext cx="1664208" cy="8412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286000"/>
            <a:ext cx="1664208" cy="64008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TOOL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706624"/>
            <a:ext cx="33832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10912" y="2286000"/>
            <a:ext cx="1664208" cy="8412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10912" y="2286000"/>
            <a:ext cx="1664208" cy="64008"/>
          </a:xfrm>
          <a:prstGeom prst="roundRect">
            <a:avLst>
              <a:gd name="adj" fmla="val 12000"/>
            </a:avLst>
          </a:prstGeom>
          <a:solidFill>
            <a:srgbClr val="FFCA59"/>
          </a:solidFill>
          <a:ln>
            <a:solidFill>
              <a:srgbClr val="FFC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5786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GUARDRAIL
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48272" y="2706624"/>
            <a:ext cx="33832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87184" y="2286000"/>
            <a:ext cx="1664208" cy="8412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87184" y="2286000"/>
            <a:ext cx="1664208" cy="64008"/>
          </a:xfrm>
          <a:prstGeom prst="roundRect">
            <a:avLst>
              <a:gd name="adj" fmla="val 12000"/>
            </a:avLst>
          </a:prstGeom>
          <a:solidFill>
            <a:srgbClr val="FF8469"/>
          </a:solidFill>
          <a:ln>
            <a:solidFill>
              <a:srgbClr val="FF8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25786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OBSERVED
OUTCOME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24544" y="2706624"/>
            <a:ext cx="338328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63456" y="2286000"/>
            <a:ext cx="1664208" cy="8412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63456" y="2286000"/>
            <a:ext cx="1664208" cy="64008"/>
          </a:xfrm>
          <a:prstGeom prst="roundRect">
            <a:avLst>
              <a:gd name="adj" fmla="val 12000"/>
            </a:avLst>
          </a:prstGeom>
          <a:solidFill>
            <a:srgbClr val="B8FFEB"/>
          </a:solidFill>
          <a:ln>
            <a:solidFill>
              <a:srgbClr val="B8F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2578608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INDEPENDENT
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069080"/>
            <a:ext cx="4983480" cy="960120"/>
          </a:xfrm>
          <a:prstGeom prst="roundRect">
            <a:avLst>
              <a:gd name="adj" fmla="val 12000"/>
            </a:avLst>
          </a:prstGeom>
          <a:solidFill>
            <a:srgbClr val="18354C"/>
          </a:solidFill>
          <a:ln>
            <a:solidFill>
              <a:srgbClr val="18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25112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B8FFEB"/>
                </a:solidFill>
                <a:latin typeface="Aptos"/>
              </a:rPr>
              <a:t>Guardrail: ALLOW send_email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61888" y="4069080"/>
            <a:ext cx="5532120" cy="960120"/>
          </a:xfrm>
          <a:prstGeom prst="roundRect">
            <a:avLst>
              <a:gd name="adj" fmla="val 12000"/>
            </a:avLst>
          </a:prstGeom>
          <a:solidFill>
            <a:srgbClr val="44272B"/>
          </a:solidFill>
          <a:ln>
            <a:solidFill>
              <a:srgbClr val="442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25112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8469"/>
                </a:solidFill>
                <a:latin typeface="Aptos"/>
              </a:rPr>
              <a:t>Validation: FAIL — external outcome not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715000"/>
            <a:ext cx="10835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7FAFC"/>
                </a:solidFill>
                <a:latin typeface="Aptos"/>
              </a:rPr>
              <a:t>Evidence outcomes: PASS  •  FAIL  •  NO_EVIDENCE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682E0"/>
                </a:solidFill>
                <a:latin typeface="Aptos"/>
              </a:rPr>
              <a:t>CONTROLLED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3682E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33D"/>
                </a:solidFill>
                <a:latin typeface="Aptos"/>
              </a:rPr>
              <a:t>Every validated execution creates feedback for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C607A"/>
                </a:solidFill>
                <a:latin typeface="Aptos"/>
              </a:rPr>
              <a:t>Future capability: improve behavior and validation through evaluation — never through self-modifying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EXECUTE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2743200"/>
            <a:ext cx="274321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1284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39" y="2743200"/>
            <a:ext cx="274321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5876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5876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FFCA59"/>
          </a:solidFill>
          <a:ln>
            <a:solidFill>
              <a:srgbClr val="FFC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59" y="2743200"/>
            <a:ext cx="27432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0468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0468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FF8469"/>
          </a:solidFill>
          <a:ln>
            <a:solidFill>
              <a:srgbClr val="FF8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7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HUMAN
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2279" y="2743200"/>
            <a:ext cx="274321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5060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5060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3682E0"/>
          </a:solidFill>
          <a:ln>
            <a:solidFill>
              <a:srgbClr val="36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EVALUATION
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58200" y="2743200"/>
            <a:ext cx="274320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9652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9652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PROPOSE
IMPROVEMENT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04119" y="2743200"/>
            <a:ext cx="274321" cy="0"/>
          </a:xfrm>
          <a:prstGeom prst="line">
            <a:avLst/>
          </a:prstGeom>
          <a:ln w="25400">
            <a:solidFill>
              <a:srgbClr val="95B3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42448" y="2304288"/>
            <a:ext cx="1243584" cy="868680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42448" y="2304288"/>
            <a:ext cx="1243584" cy="64008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>
            <a:solidFill>
              <a:srgbClr val="13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8168" y="258775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3233D"/>
                </a:solidFill>
                <a:latin typeface="Aptos"/>
              </a:rPr>
              <a:t>TEST /
APPROVE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064240" y="3310128"/>
            <a:ext cx="0" cy="667511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88720" y="3977639"/>
            <a:ext cx="9875520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88720" y="3310128"/>
            <a:ext cx="0" cy="667511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438912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Failed executions become regression cases. Human reviews become labeled feedback. Improvements are promoted only after testing.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23160" y="5303520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5468112"/>
            <a:ext cx="6858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B8FFEB"/>
                </a:solidFill>
                <a:latin typeface="Aptos"/>
              </a:rPr>
              <a:t>Policies and permissions remain operator-controlled.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682E0"/>
                </a:solidFill>
                <a:latin typeface="Aptos"/>
              </a:rPr>
              <a:t>CATEGORY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3682E0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33D"/>
                </a:solidFill>
                <a:latin typeface="Aptos"/>
              </a:rPr>
              <a:t>What AgentSuite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C607A"/>
                </a:solidFill>
                <a:latin typeface="Aptos"/>
              </a:rPr>
              <a:t>The differentiation is the loop — not a single model, tool, or connector.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75104"/>
            <a:ext cx="5102352" cy="512064"/>
          </a:xfrm>
          <a:prstGeom prst="roundRect">
            <a:avLst>
              <a:gd name="adj" fmla="val 12000"/>
            </a:avLst>
          </a:prstGeom>
          <a:solidFill>
            <a:srgbClr val="EDF7F9"/>
          </a:solidFill>
          <a:ln>
            <a:solidFill>
              <a:srgbClr val="ED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5102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3233D"/>
                </a:solidFill>
                <a:latin typeface="Aptos"/>
              </a:rPr>
              <a:t>Traditional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75104"/>
            <a:ext cx="5102352" cy="512064"/>
          </a:xfrm>
          <a:prstGeom prst="roundRect">
            <a:avLst>
              <a:gd name="adj" fmla="val 12000"/>
            </a:avLst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30552"/>
            <a:ext cx="5102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7FAFC"/>
                </a:solidFill>
                <a:latin typeface="Aptos"/>
              </a:rPr>
              <a:t>AgentSuite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52344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Company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752344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Knowledge-grounded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136391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36975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Manual agent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236975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Grounded work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21024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3621024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72160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Individual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72160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AI workforce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05656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4105656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206240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Tool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206240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Governed execution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90288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4590288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69087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Claimed success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69087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Verified outcome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74920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C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5074920"/>
            <a:ext cx="5102352" cy="384048"/>
          </a:xfrm>
          <a:prstGeom prst="roundRect">
            <a:avLst>
              <a:gd name="adj" fmla="val 12000"/>
            </a:avLst>
          </a:prstGeom>
          <a:solidFill>
            <a:srgbClr val="102240"/>
          </a:solidFill>
          <a:ln>
            <a:solidFill>
              <a:srgbClr val="2B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175504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4C607A"/>
                </a:solidFill>
                <a:latin typeface="Aptos"/>
              </a:rPr>
              <a:t>Static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5175504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7FAFC"/>
                </a:solidFill>
                <a:latin typeface="Aptos"/>
              </a:rPr>
              <a:t>Controlled 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From discovery to execution to proof — one connected operating layer.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8"/>
          </a:solidFill>
          <a:ln>
            <a:solidFill>
              <a:srgbClr val="08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754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20CCB0"/>
                </a:solidFill>
                <a:latin typeface="Aptos"/>
              </a:rPr>
              <a:t>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5B9D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7FAFC"/>
                </a:solidFill>
                <a:latin typeface="Aptos"/>
              </a:rPr>
              <a:t>Start with one department. Build the workforce around real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5B9D1"/>
                </a:solidFill>
                <a:latin typeface="Aptos"/>
              </a:rPr>
              <a:t>Move from AI experiments to trusted digital workers.</a:t>
            </a:r>
          </a:p>
        </p:txBody>
      </p:sp>
      <p:sp>
        <p:nvSpPr>
          <p:cNvPr id="8" name="Oval 7"/>
          <p:cNvSpPr/>
          <p:nvPr/>
        </p:nvSpPr>
        <p:spPr>
          <a:xfrm>
            <a:off x="1335024" y="2212848"/>
            <a:ext cx="274320" cy="274320"/>
          </a:xfrm>
          <a:prstGeom prst="ellipse">
            <a:avLst/>
          </a:prstGeom>
          <a:solidFill>
            <a:srgbClr val="36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2276856"/>
            <a:ext cx="2743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08132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43200"/>
            <a:ext cx="15179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FAFC"/>
                </a:solidFill>
                <a:latin typeface="Aptos"/>
              </a:rPr>
              <a:t>Department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350008"/>
            <a:ext cx="420623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75304" y="2212848"/>
            <a:ext cx="274320" cy="274320"/>
          </a:xfrm>
          <a:prstGeom prst="ellipse">
            <a:avLst/>
          </a:prstGeom>
          <a:solidFill>
            <a:srgbClr val="20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276856"/>
            <a:ext cx="2743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08132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743200"/>
            <a:ext cx="15179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FAFC"/>
                </a:solidFill>
                <a:latin typeface="Aptos"/>
              </a:rPr>
              <a:t>1–3 workflows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2350008"/>
            <a:ext cx="420624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15584" y="2212848"/>
            <a:ext cx="274320" cy="274320"/>
          </a:xfrm>
          <a:prstGeom prst="ellipse">
            <a:avLst/>
          </a:prstGeom>
          <a:solidFill>
            <a:srgbClr val="FFC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2276856"/>
            <a:ext cx="2743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081328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743200"/>
            <a:ext cx="15179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FAFC"/>
                </a:solidFill>
                <a:latin typeface="Aptos"/>
              </a:rPr>
              <a:t>Governed agents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2350008"/>
            <a:ext cx="420624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55864" y="2212848"/>
            <a:ext cx="274320" cy="274320"/>
          </a:xfrm>
          <a:prstGeom prst="ellipse">
            <a:avLst/>
          </a:prstGeom>
          <a:solidFill>
            <a:srgbClr val="FF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2276856"/>
            <a:ext cx="2743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08132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2743200"/>
            <a:ext cx="15179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FAFC"/>
                </a:solidFill>
                <a:latin typeface="Aptos"/>
              </a:rPr>
              <a:t>Measured outcomes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2350008"/>
            <a:ext cx="420624" cy="0"/>
          </a:xfrm>
          <a:prstGeom prst="line">
            <a:avLst/>
          </a:prstGeom>
          <a:ln w="25400">
            <a:solidFill>
              <a:srgbClr val="20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296144" y="2212848"/>
            <a:ext cx="274320" cy="274320"/>
          </a:xfrm>
          <a:prstGeom prst="ellipse">
            <a:avLst/>
          </a:prstGeom>
          <a:solidFill>
            <a:srgbClr val="B8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6144" y="2276856"/>
            <a:ext cx="2743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081328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743200"/>
            <a:ext cx="151790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FAFC"/>
                </a:solidFill>
                <a:latin typeface="Aptos"/>
              </a:rPr>
              <a:t>Validated feedback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023360"/>
            <a:ext cx="10332720" cy="1143000"/>
          </a:xfrm>
          <a:prstGeom prst="roundRect">
            <a:avLst>
              <a:gd name="adj" fmla="val 12000"/>
            </a:avLst>
          </a:prstGeom>
          <a:solidFill>
            <a:srgbClr val="20CCB0"/>
          </a:solidFill>
          <a:ln>
            <a:solidFill>
              <a:srgbClr val="20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334256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081328"/>
                </a:solidFill>
                <a:latin typeface="Aptos"/>
              </a:rPr>
              <a:t>Connect the work. Govern the action. Verify the outcome.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15000"/>
            <a:ext cx="10835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B8FFEB"/>
                </a:solidFill>
                <a:latin typeface="Aptos"/>
              </a:rPr>
              <a:t>AgentSuite: from company context to verified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AgentSuite: From Company Knowledge to Governed Work</dc:title>
  <dc:subject>Enterprise pitch deck</dc:subject>
  <dc:creator>AgentSuite</dc:creator>
  <cp:keywords>knowledge graph, digital workers, governance, validation, Temporal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